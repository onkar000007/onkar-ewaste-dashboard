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customXml" Target="../customXml/item2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customXml" Target="../customXml/item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7DCA0"/>
                </a:solidFill>
              </a:defRPr>
            </a:pPr>
            <a:r>
              <a:t>E-WASTE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315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6F8"/>
                </a:solidFill>
              </a:defRPr>
            </a:pPr>
            <a:r>
              <a:t>TO SMART</a:t>
            </a:r>
            <a:br/>
            <a:r>
              <a:t>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ABEC6"/>
                </a:solidFill>
              </a:defRPr>
            </a:pPr>
            <a:r>
              <a:t>Turning discarded electronics into affordable products — and waste into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97280"/>
            <a:ext cx="1234440" cy="960120"/>
          </a:xfrm>
          <a:prstGeom prst="roundRect">
            <a:avLst/>
          </a:prstGeom>
          <a:solidFill>
            <a:srgbClr val="14222B"/>
          </a:solidFill>
          <a:ln>
            <a:solidFill>
              <a:srgbClr val="37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234439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7DCA0"/>
                </a:solidFill>
              </a:defRPr>
            </a:pPr>
            <a:r>
              <a:t>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103120"/>
            <a:ext cx="1234440" cy="960120"/>
          </a:xfrm>
          <a:prstGeom prst="roundRect">
            <a:avLst/>
          </a:prstGeom>
          <a:solidFill>
            <a:srgbClr val="14222B"/>
          </a:solidFill>
          <a:ln>
            <a:solidFill>
              <a:srgbClr val="3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2240279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2BEDC"/>
                </a:solidFill>
              </a:defRPr>
            </a:pPr>
            <a:r>
              <a:t>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383280"/>
            <a:ext cx="1234440" cy="960120"/>
          </a:xfrm>
          <a:prstGeom prst="roundRect">
            <a:avLst/>
          </a:prstGeom>
          <a:solidFill>
            <a:srgbClr val="14222B"/>
          </a:solidFill>
          <a:ln>
            <a:solidFill>
              <a:srgbClr val="F5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52044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BE46"/>
                </a:solidFill>
              </a:defRPr>
            </a:pPr>
            <a:r>
              <a:t>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4297680"/>
            <a:ext cx="1234440" cy="960120"/>
          </a:xfrm>
          <a:prstGeom prst="roundRect">
            <a:avLst/>
          </a:prstGeom>
          <a:solidFill>
            <a:srgbClr val="14222B"/>
          </a:solidFill>
          <a:ln>
            <a:solidFill>
              <a:srgbClr val="37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443484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7DCA0"/>
                </a:solidFill>
              </a:defRPr>
            </a:pPr>
            <a: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BE46"/>
                </a:solidFill>
              </a:defRPr>
            </a:pPr>
            <a:r>
              <a:t>NOVEL BUSINESS IDEA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DCA0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0F6F8"/>
                </a:solidFill>
              </a:defRPr>
            </a:pPr>
            <a:r>
              <a:t>The Novel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BEC6"/>
                </a:solidFill>
              </a:defRPr>
            </a:pPr>
            <a:r>
              <a:t>Give old electronics a second life.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2560320"/>
          </a:xfrm>
          <a:prstGeom prst="roundRect">
            <a:avLst/>
          </a:prstGeom>
          <a:solidFill>
            <a:srgbClr val="14222B"/>
          </a:solidFill>
          <a:ln>
            <a:solidFill>
              <a:srgbClr val="2D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128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DCA0"/>
                </a:solidFill>
              </a:defRPr>
            </a:pPr>
            <a:r>
              <a:t>COLLECT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70048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6F8"/>
                </a:solidFill>
              </a:defRPr>
            </a:pPr>
            <a:r>
              <a:t>Old phones, laptops, batteries, speakers and electronic components.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2560320"/>
          </a:xfrm>
          <a:prstGeom prst="roundRect">
            <a:avLst/>
          </a:prstGeom>
          <a:solidFill>
            <a:srgbClr val="14222B"/>
          </a:solidFill>
          <a:ln>
            <a:solidFill>
              <a:srgbClr val="2D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128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2BEDC"/>
                </a:solidFill>
              </a:defRPr>
            </a:pPr>
            <a:r>
              <a:t>RECOVER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70048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6F8"/>
                </a:solidFill>
              </a:defRPr>
            </a:pPr>
            <a:r>
              <a:t>Test devices and recover components that still have useful life.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2560320"/>
          </a:xfrm>
          <a:prstGeom prst="roundRect">
            <a:avLst/>
          </a:prstGeom>
          <a:solidFill>
            <a:srgbClr val="14222B"/>
          </a:solidFill>
          <a:ln>
            <a:solidFill>
              <a:srgbClr val="2D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2128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BE46"/>
                </a:solidFill>
              </a:defRPr>
            </a:pPr>
            <a:r>
              <a:t>CREATE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670048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6F8"/>
                </a:solidFill>
              </a:defRPr>
            </a:pPr>
            <a:r>
              <a:t>Upcycle components into affordable smart and educational products.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66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6F8"/>
                </a:solidFill>
              </a:defRPr>
            </a:pPr>
            <a:r>
              <a:t>Examples:  Old smartphones → CCTV   •   Old speakers → Bluetooth speakers   •   Components → STEM kits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DCA0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0F6F8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BEC6"/>
                </a:solidFill>
              </a:defRPr>
            </a:pPr>
            <a:r>
              <a:t>Why does e-waste need a new approach?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1508760"/>
          </a:xfrm>
          <a:prstGeom prst="roundRect">
            <a:avLst/>
          </a:prstGeom>
          <a:solidFill>
            <a:srgbClr val="14222B"/>
          </a:solidFill>
          <a:ln>
            <a:solidFill>
              <a:srgbClr val="2D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DCA0"/>
                </a:solidFill>
              </a:defRPr>
            </a:pPr>
            <a:r>
              <a:t>Useful parts are wasted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78608"/>
            <a:ext cx="45720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6F8"/>
                </a:solidFill>
              </a:defRPr>
            </a:pPr>
            <a:r>
              <a:t>Many discarded devices still contain working components.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1031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EC6"/>
                </a:solidFill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920240"/>
            <a:ext cx="5029200" cy="1508760"/>
          </a:xfrm>
          <a:prstGeom prst="roundRect">
            <a:avLst/>
          </a:prstGeom>
          <a:solidFill>
            <a:srgbClr val="14222B"/>
          </a:solidFill>
          <a:ln>
            <a:solidFill>
              <a:srgbClr val="2D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21214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2BEDC"/>
                </a:solidFill>
              </a:defRPr>
            </a:pPr>
            <a:r>
              <a:t>Unsafe disposal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578608"/>
            <a:ext cx="45720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6F8"/>
                </a:solidFill>
              </a:defRPr>
            </a:pPr>
            <a:r>
              <a:t>Improper e-waste disposal can harm the environment.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21031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EC6"/>
                </a:solidFill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029200" cy="1508760"/>
          </a:xfrm>
          <a:prstGeom prst="roundRect">
            <a:avLst/>
          </a:prstGeom>
          <a:solidFill>
            <a:srgbClr val="14222B"/>
          </a:solidFill>
          <a:ln>
            <a:solidFill>
              <a:srgbClr val="2D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41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BE46"/>
                </a:solidFill>
              </a:defRPr>
            </a:pPr>
            <a:r>
              <a:t>Value is lost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98848"/>
            <a:ext cx="45720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6F8"/>
                </a:solidFill>
              </a:defRPr>
            </a:pPr>
            <a:r>
              <a:t>Recoverable materials and components are thrown away.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0233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EC6"/>
                </a:solidFill>
              </a:defRPr>
            </a:pPr>
            <a: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840480"/>
            <a:ext cx="5029200" cy="1508760"/>
          </a:xfrm>
          <a:prstGeom prst="roundRect">
            <a:avLst/>
          </a:prstGeom>
          <a:solidFill>
            <a:srgbClr val="14222B"/>
          </a:solidFill>
          <a:ln>
            <a:solidFill>
              <a:srgbClr val="2D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4041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DCA0"/>
                </a:solidFill>
              </a:defRPr>
            </a:pPr>
            <a:r>
              <a:t>Products cost more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498848"/>
            <a:ext cx="45720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6F8"/>
                </a:solidFill>
              </a:defRPr>
            </a:pPr>
            <a:r>
              <a:t>Affordable electronics are still out of reach for some users.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40233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EC6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DCA0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0F6F8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BEC6"/>
                </a:solidFill>
              </a:defRPr>
            </a:pPr>
            <a:r>
              <a:t>A circular process that turns waste into products.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2011680" cy="2331720"/>
          </a:xfrm>
          <a:prstGeom prst="roundRect">
            <a:avLst/>
          </a:prstGeom>
          <a:solidFill>
            <a:srgbClr val="14222B"/>
          </a:solidFill>
          <a:ln>
            <a:solidFill>
              <a:srgbClr val="37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267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DCA0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6974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6F8"/>
                </a:solidFill>
              </a:defRPr>
            </a:pPr>
            <a: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24612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C6"/>
                </a:solidFill>
              </a:defRPr>
            </a:pPr>
            <a:r>
              <a:t>Homes • Colleges • Offices • Shops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DCA0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057400"/>
            <a:ext cx="2011680" cy="2331720"/>
          </a:xfrm>
          <a:prstGeom prst="roundRect">
            <a:avLst/>
          </a:prstGeom>
          <a:solidFill>
            <a:srgbClr val="14222B"/>
          </a:solidFill>
          <a:ln>
            <a:solidFill>
              <a:srgbClr val="3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2267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2BEDC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6974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6F8"/>
                </a:solidFill>
              </a:defRPr>
            </a:pPr>
            <a:r>
              <a:t>SORT &amp;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324612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C6"/>
                </a:solidFill>
              </a:defRPr>
            </a:pPr>
            <a:r>
              <a:t>Reusable vs. non-reusable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DCA0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2057400"/>
            <a:ext cx="2011680" cy="2331720"/>
          </a:xfrm>
          <a:prstGeom prst="roundRect">
            <a:avLst/>
          </a:prstGeom>
          <a:solidFill>
            <a:srgbClr val="14222B"/>
          </a:solidFill>
          <a:ln>
            <a:solidFill>
              <a:srgbClr val="F5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1" y="2267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BE46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974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6F8"/>
                </a:solidFill>
              </a:defRPr>
            </a:pPr>
            <a:r>
              <a:t>UPCycle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1" y="324612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C6"/>
                </a:solidFill>
              </a:defRPr>
            </a:pPr>
            <a:r>
              <a:t>Repair • Combine • Rebuild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DCA0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2057400"/>
            <a:ext cx="2011680" cy="2331720"/>
          </a:xfrm>
          <a:prstGeom prst="roundRect">
            <a:avLst/>
          </a:prstGeom>
          <a:solidFill>
            <a:srgbClr val="14222B"/>
          </a:solidFill>
          <a:ln>
            <a:solidFill>
              <a:srgbClr val="37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2267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DCA0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1" y="26974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6F8"/>
                </a:solidFill>
              </a:defRPr>
            </a:pPr>
            <a:r>
              <a:t>QUALITY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324612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C6"/>
                </a:solidFill>
              </a:defRPr>
            </a:pPr>
            <a:r>
              <a:t>Safety and performance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DCA0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2057400"/>
            <a:ext cx="2011680" cy="2331720"/>
          </a:xfrm>
          <a:prstGeom prst="roundRect">
            <a:avLst/>
          </a:prstGeom>
          <a:solidFill>
            <a:srgbClr val="14222B"/>
          </a:solidFill>
          <a:ln>
            <a:solidFill>
              <a:srgbClr val="3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94392" y="2267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2BEDC"/>
                </a:solidFill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4392" y="26974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6F8"/>
                </a:solidFill>
              </a:defRPr>
            </a:pPr>
            <a:r>
              <a:t>SELL / RECYCLE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2" y="324612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C6"/>
                </a:solidFill>
              </a:defRPr>
            </a:pPr>
            <a:r>
              <a:t>Sell products; recycle the rest safely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DCA0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0F6F8"/>
                </a:solidFill>
              </a:defRPr>
            </a:pPr>
            <a:r>
              <a:t>Revenue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BEC6"/>
                </a:solidFill>
              </a:defRPr>
            </a:pPr>
            <a:r>
              <a:t>Multiple income streams make the model sustainable.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37560" cy="1554480"/>
          </a:xfrm>
          <a:prstGeom prst="roundRect">
            <a:avLst/>
          </a:prstGeom>
          <a:solidFill>
            <a:srgbClr val="14222B"/>
          </a:solidFill>
          <a:ln>
            <a:solidFill>
              <a:srgbClr val="2D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2996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DCA0"/>
                </a:solidFill>
              </a:defRPr>
            </a:pPr>
            <a:r>
              <a:t>PRODUCT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28803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6F8"/>
                </a:solidFill>
              </a:defRPr>
            </a:pPr>
            <a:r>
              <a:t>Sell refurbished and upcycled smart products.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337560" cy="1554480"/>
          </a:xfrm>
          <a:prstGeom prst="roundRect">
            <a:avLst/>
          </a:prstGeom>
          <a:solidFill>
            <a:srgbClr val="14222B"/>
          </a:solidFill>
          <a:ln>
            <a:solidFill>
              <a:srgbClr val="2D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02996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2BEDC"/>
                </a:solidFill>
              </a:defRPr>
            </a:pPr>
            <a:r>
              <a:t>E-WASTE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487168"/>
            <a:ext cx="28803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6F8"/>
                </a:solidFill>
              </a:defRPr>
            </a:pPr>
            <a:r>
              <a:t>Charge organizations for collection and e-waste management.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828800"/>
            <a:ext cx="3337560" cy="1554480"/>
          </a:xfrm>
          <a:prstGeom prst="roundRect">
            <a:avLst/>
          </a:prstGeom>
          <a:solidFill>
            <a:srgbClr val="14222B"/>
          </a:solidFill>
          <a:ln>
            <a:solidFill>
              <a:srgbClr val="2D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02996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BE46"/>
                </a:solidFill>
              </a:defRPr>
            </a:pPr>
            <a:r>
              <a:t>STEM KITS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487168"/>
            <a:ext cx="28803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6F8"/>
                </a:solidFill>
              </a:defRPr>
            </a:pPr>
            <a:r>
              <a:t>Sell educational electronics kits to schools and colleges.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3337560" cy="1554480"/>
          </a:xfrm>
          <a:prstGeom prst="roundRect">
            <a:avLst/>
          </a:prstGeom>
          <a:solidFill>
            <a:srgbClr val="14222B"/>
          </a:solidFill>
          <a:ln>
            <a:solidFill>
              <a:srgbClr val="2D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9592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DCA0"/>
                </a:solidFill>
              </a:defRPr>
            </a:pPr>
            <a:r>
              <a:t>REFURBISHMENT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53128"/>
            <a:ext cx="28803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6F8"/>
                </a:solidFill>
              </a:defRPr>
            </a:pPr>
            <a:r>
              <a:t>Repair and upgrade old devices for customers.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794760"/>
            <a:ext cx="3337560" cy="1554480"/>
          </a:xfrm>
          <a:prstGeom prst="roundRect">
            <a:avLst/>
          </a:prstGeom>
          <a:solidFill>
            <a:srgbClr val="14222B"/>
          </a:solidFill>
          <a:ln>
            <a:solidFill>
              <a:srgbClr val="2D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99592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2BEDC"/>
                </a:solidFill>
              </a:defRPr>
            </a:pPr>
            <a:r>
              <a:t>RECYCLING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453128"/>
            <a:ext cx="28803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6F8"/>
                </a:solidFill>
              </a:defRPr>
            </a:pPr>
            <a:r>
              <a:t>Supply unusable components to authorized recyclers.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5532120"/>
            <a:ext cx="3337560" cy="822960"/>
          </a:xfrm>
          <a:prstGeom prst="roundRect">
            <a:avLst/>
          </a:prstGeom>
          <a:solidFill>
            <a:srgbClr val="14222B"/>
          </a:solidFill>
          <a:ln>
            <a:solidFill>
              <a:srgbClr val="2D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573328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DCA0"/>
                </a:solidFill>
              </a:defRPr>
            </a:pPr>
            <a:r>
              <a:t>CORE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6190488"/>
            <a:ext cx="28803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6F8"/>
                </a:solidFill>
              </a:defRPr>
            </a:pPr>
            <a:r>
              <a:t>Product sales + service fees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5532120"/>
            <a:ext cx="3337560" cy="822960"/>
          </a:xfrm>
          <a:prstGeom prst="roundRect">
            <a:avLst/>
          </a:prstGeom>
          <a:solidFill>
            <a:srgbClr val="14222B"/>
          </a:solidFill>
          <a:ln>
            <a:solidFill>
              <a:srgbClr val="2D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73328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2BEDC"/>
                </a:solidFill>
              </a:defRPr>
            </a:pPr>
            <a:r>
              <a:t>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6190488"/>
            <a:ext cx="28803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6F8"/>
                </a:solidFill>
              </a:defRPr>
            </a:pPr>
            <a:r>
              <a:t>More collection → more products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DCA0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0F6F8"/>
                </a:solidFill>
              </a:defRPr>
            </a:pPr>
            <a:r>
              <a:t>Revenue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BEC6"/>
                </a:solidFill>
              </a:defRPr>
            </a:pPr>
            <a:r>
              <a:t>From discarded electronics to business value.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31720"/>
            <a:ext cx="1645920" cy="1645920"/>
          </a:xfrm>
          <a:prstGeom prst="ellipse">
            <a:avLst/>
          </a:prstGeom>
          <a:solidFill>
            <a:srgbClr val="14222B"/>
          </a:solidFill>
          <a:ln>
            <a:solidFill>
              <a:srgbClr val="37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743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8"/>
                </a:solidFill>
              </a:defRPr>
            </a:pPr>
            <a:r>
              <a:t>E-WASTE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C6"/>
                </a:solidFill>
              </a:defRPr>
            </a:pPr>
            <a: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9077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7DCA0"/>
                </a:solidFill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2926080" y="2331720"/>
            <a:ext cx="1645920" cy="1645920"/>
          </a:xfrm>
          <a:prstGeom prst="ellipse">
            <a:avLst/>
          </a:prstGeom>
          <a:solidFill>
            <a:srgbClr val="14222B"/>
          </a:solidFill>
          <a:ln>
            <a:solidFill>
              <a:srgbClr val="3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743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8"/>
                </a:solidFill>
              </a:defRPr>
            </a:pPr>
            <a:r>
              <a:t>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C6"/>
                </a:solidFill>
              </a:defRPr>
            </a:pPr>
            <a:r>
              <a:t>Recover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077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7DCA0"/>
                </a:solidFill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0" y="2331720"/>
            <a:ext cx="1645920" cy="1645920"/>
          </a:xfrm>
          <a:prstGeom prst="ellipse">
            <a:avLst/>
          </a:prstGeom>
          <a:solidFill>
            <a:srgbClr val="14222B"/>
          </a:solidFill>
          <a:ln>
            <a:solidFill>
              <a:srgbClr val="F5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743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8"/>
                </a:solidFill>
              </a:defRPr>
            </a:pPr>
            <a:r>
              <a:t>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C6"/>
                </a:solidFill>
              </a:defRPr>
            </a:pPr>
            <a:r>
              <a:t>Create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9077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7DCA0"/>
                </a:solidFill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2331720"/>
            <a:ext cx="1645920" cy="1645920"/>
          </a:xfrm>
          <a:prstGeom prst="ellipse">
            <a:avLst/>
          </a:prstGeom>
          <a:solidFill>
            <a:srgbClr val="14222B"/>
          </a:solidFill>
          <a:ln>
            <a:solidFill>
              <a:srgbClr val="37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2743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8"/>
                </a:solidFill>
              </a:defRPr>
            </a:pPr>
            <a:r>
              <a:t>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C6"/>
                </a:solidFill>
              </a:defRPr>
            </a:pPr>
            <a:r>
              <a:t>Sell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9077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7DCA0"/>
                </a:solidFill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9784080" y="2331720"/>
            <a:ext cx="1645920" cy="1645920"/>
          </a:xfrm>
          <a:prstGeom prst="ellipse">
            <a:avLst/>
          </a:prstGeom>
          <a:solidFill>
            <a:srgbClr val="14222B"/>
          </a:solidFill>
          <a:ln>
            <a:solidFill>
              <a:srgbClr val="32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19" y="2743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8"/>
                </a:solidFill>
              </a:defRPr>
            </a:pPr>
            <a:r>
              <a:t>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C6"/>
                </a:solidFill>
              </a:defRPr>
            </a:pPr>
            <a:r>
              <a:t>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6636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7DCA0"/>
                </a:solidFill>
              </a:defRPr>
            </a:pPr>
            <a:r>
              <a:t>COLLECT  →  RECOVER  →  UPCYCLE  →  SELL  →  GENERATE PROFIT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DCA0"/>
                </a:solidFill>
              </a:defRPr>
            </a:pPr>
            <a:r>
              <a:t>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0F6F8"/>
                </a:solidFill>
              </a:defRPr>
            </a:pPr>
            <a:r>
              <a:t>Waste is not the end.</a:t>
            </a:r>
            <a:br/>
            <a:r>
              <a:t>It is the raw material for the next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03320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ABEC6"/>
                </a:solidFill>
              </a:defRPr>
            </a:pPr>
            <a:r>
              <a:t>E-Waste to Smart Products combines sustainability, affordability and business opportunity.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BE46"/>
                </a:solidFill>
              </a:defRPr>
            </a:pPr>
            <a:r>
              <a:t>COLLECT  •  REUSE  •  UPCYCLE  •  SELL  •  RECYCLE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5897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7DCA0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05BFBD7D7D0F459F2EB6DF2A577303" ma:contentTypeVersion="12" ma:contentTypeDescription="Create a new document." ma:contentTypeScope="" ma:versionID="8528867ffa347892931992dba061e8fc">
  <xsd:schema xmlns:xsd="http://www.w3.org/2001/XMLSchema" xmlns:xs="http://www.w3.org/2001/XMLSchema" xmlns:p="http://schemas.microsoft.com/office/2006/metadata/properties" xmlns:ns2="01a789ed-3b06-4a12-abcb-8250f314dd0b" xmlns:ns3="44678d20-5b6e-4792-b133-ca784477d689" targetNamespace="http://schemas.microsoft.com/office/2006/metadata/properties" ma:root="true" ma:fieldsID="3a6a2aa65aa1b5a2272dcd5b5e15d211" ns2:_="" ns3:_="">
    <xsd:import namespace="01a789ed-3b06-4a12-abcb-8250f314dd0b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789ed-3b06-4a12-abcb-8250f314dd0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9a17da5-126c-488b-b448-998f78a263bb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1a789ed-3b06-4a12-abcb-8250f314dd0b" xsi:nil="true"/>
    <lcf76f155ced4ddcb4097134ff3c332f xmlns="01a789ed-3b06-4a12-abcb-8250f314dd0b">
      <Terms xmlns="http://schemas.microsoft.com/office/infopath/2007/PartnerControls"/>
    </lcf76f155ced4ddcb4097134ff3c332f>
    <TaxCatchAll xmlns="44678d20-5b6e-4792-b133-ca784477d689" xsi:nil="true"/>
  </documentManagement>
</p:properties>
</file>

<file path=customXml/itemProps1.xml><?xml version="1.0" encoding="utf-8"?>
<ds:datastoreItem xmlns:ds="http://schemas.openxmlformats.org/officeDocument/2006/customXml" ds:itemID="{514CA5BC-5B77-4EFF-A2F2-3925B2BE75E2}"/>
</file>

<file path=customXml/itemProps2.xml><?xml version="1.0" encoding="utf-8"?>
<ds:datastoreItem xmlns:ds="http://schemas.openxmlformats.org/officeDocument/2006/customXml" ds:itemID="{AD1AEF40-92D5-4298-857E-C711F68444F5}"/>
</file>

<file path=customXml/itemProps3.xml><?xml version="1.0" encoding="utf-8"?>
<ds:datastoreItem xmlns:ds="http://schemas.openxmlformats.org/officeDocument/2006/customXml" ds:itemID="{AC4009CB-CAA2-4C85-ADFC-50AC7F4D3F08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0x0101003705BFBD7D7D0F459F2EB6DF2A577303</vt:lpwstr>
  </property>
</Properties>
</file>